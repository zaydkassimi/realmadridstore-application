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ppins" charset="1" panose="00000500000000000000"/>
      <p:regular r:id="rId17"/>
    </p:embeddedFont>
    <p:embeddedFont>
      <p:font typeface="Poppins Bold" charset="1" panose="00000800000000000000"/>
      <p:regular r:id="rId18"/>
    </p:embeddedFont>
    <p:embeddedFont>
      <p:font typeface="Open Sans" charset="1" panose="00000000000000000000"/>
      <p:regular r:id="rId19"/>
    </p:embeddedFont>
    <p:embeddedFont>
      <p:font typeface="Open Sans Bold" charset="1" panose="00000000000000000000"/>
      <p:regular r:id="rId20"/>
    </p:embeddedFont>
    <p:embeddedFont>
      <p:font typeface="Glacial Indifference Bold" charset="1" panose="000008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jpeg" Type="http://schemas.openxmlformats.org/officeDocument/2006/relationships/image"/><Relationship Id="rId5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jpeg" Type="http://schemas.openxmlformats.org/officeDocument/2006/relationships/image"/><Relationship Id="rId5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jpeg" Type="http://schemas.openxmlformats.org/officeDocument/2006/relationships/image"/><Relationship Id="rId5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0.png" Type="http://schemas.openxmlformats.org/officeDocument/2006/relationships/image"/><Relationship Id="rId5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jpe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0727">
                <a:alpha val="100000"/>
              </a:srgbClr>
            </a:gs>
            <a:gs pos="100000">
              <a:srgbClr val="0C082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153377" y="7727913"/>
            <a:ext cx="290192" cy="1530387"/>
            <a:chOff x="0" y="0"/>
            <a:chExt cx="294878" cy="15551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4878" cy="1555103"/>
            </a:xfrm>
            <a:custGeom>
              <a:avLst/>
              <a:gdLst/>
              <a:ahLst/>
              <a:cxnLst/>
              <a:rect r="r" b="b" t="t" l="l"/>
              <a:pathLst>
                <a:path h="1555103" w="294878">
                  <a:moveTo>
                    <a:pt x="147439" y="0"/>
                  </a:moveTo>
                  <a:lnTo>
                    <a:pt x="147439" y="0"/>
                  </a:lnTo>
                  <a:cubicBezTo>
                    <a:pt x="228868" y="0"/>
                    <a:pt x="294878" y="66011"/>
                    <a:pt x="294878" y="147439"/>
                  </a:cubicBezTo>
                  <a:lnTo>
                    <a:pt x="294878" y="1407663"/>
                  </a:lnTo>
                  <a:cubicBezTo>
                    <a:pt x="294878" y="1446767"/>
                    <a:pt x="279345" y="1484268"/>
                    <a:pt x="251694" y="1511919"/>
                  </a:cubicBezTo>
                  <a:cubicBezTo>
                    <a:pt x="224044" y="1539569"/>
                    <a:pt x="186542" y="1555103"/>
                    <a:pt x="147439" y="1555103"/>
                  </a:cubicBezTo>
                  <a:lnTo>
                    <a:pt x="147439" y="1555103"/>
                  </a:lnTo>
                  <a:cubicBezTo>
                    <a:pt x="108336" y="1555103"/>
                    <a:pt x="70834" y="1539569"/>
                    <a:pt x="43184" y="1511919"/>
                  </a:cubicBezTo>
                  <a:cubicBezTo>
                    <a:pt x="15534" y="1484268"/>
                    <a:pt x="0" y="1446767"/>
                    <a:pt x="0" y="1407663"/>
                  </a:cubicBezTo>
                  <a:lnTo>
                    <a:pt x="0" y="147439"/>
                  </a:lnTo>
                  <a:cubicBezTo>
                    <a:pt x="0" y="108336"/>
                    <a:pt x="15534" y="70834"/>
                    <a:pt x="43184" y="43184"/>
                  </a:cubicBezTo>
                  <a:cubicBezTo>
                    <a:pt x="70834" y="15534"/>
                    <a:pt x="108336" y="0"/>
                    <a:pt x="1474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94878" cy="1593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1242272" y="1679641"/>
            <a:ext cx="3530079" cy="6984868"/>
            <a:chOff x="0" y="0"/>
            <a:chExt cx="2620010" cy="5184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22189" t="0" r="-22189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3947572" y="3465853"/>
            <a:ext cx="2627347" cy="5198657"/>
            <a:chOff x="0" y="0"/>
            <a:chExt cx="2620010" cy="51841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22189" t="0" r="-22189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5" id="25"/>
          <p:cNvGrpSpPr>
            <a:grpSpLocks noChangeAspect="true"/>
          </p:cNvGrpSpPr>
          <p:nvPr/>
        </p:nvGrpSpPr>
        <p:grpSpPr>
          <a:xfrm rot="0">
            <a:off x="9733660" y="4327316"/>
            <a:ext cx="2191972" cy="4337193"/>
            <a:chOff x="0" y="0"/>
            <a:chExt cx="2620010" cy="51841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22189" t="0" r="-22189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35" id="35"/>
          <p:cNvSpPr/>
          <p:nvPr/>
        </p:nvSpPr>
        <p:spPr>
          <a:xfrm flipH="false" flipV="false" rot="0">
            <a:off x="549899" y="377509"/>
            <a:ext cx="7121995" cy="1922939"/>
          </a:xfrm>
          <a:custGeom>
            <a:avLst/>
            <a:gdLst/>
            <a:ahLst/>
            <a:cxnLst/>
            <a:rect r="r" b="b" t="t" l="l"/>
            <a:pathLst>
              <a:path h="1922939" w="7121995">
                <a:moveTo>
                  <a:pt x="0" y="0"/>
                </a:moveTo>
                <a:lnTo>
                  <a:pt x="7121995" y="0"/>
                </a:lnTo>
                <a:lnTo>
                  <a:pt x="7121995" y="1922939"/>
                </a:lnTo>
                <a:lnTo>
                  <a:pt x="0" y="1922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467203" y="2883980"/>
            <a:ext cx="9775069" cy="1443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09"/>
              </a:lnSpc>
              <a:spcBef>
                <a:spcPct val="0"/>
              </a:spcBef>
            </a:pPr>
            <a:r>
              <a:rPr lang="en-US" sz="807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 Madrid Store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54766" y="4222541"/>
            <a:ext cx="5880266" cy="1203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9"/>
              </a:lnSpc>
              <a:spcBef>
                <a:spcPct val="0"/>
              </a:spcBef>
            </a:pPr>
            <a:r>
              <a:rPr lang="en-US" b="true" sz="3378">
                <a:solidFill>
                  <a:srgbClr val="FF00E6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 Android Intelligente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28700" y="7562712"/>
            <a:ext cx="3212384" cy="47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6"/>
              </a:lnSpc>
              <a:spcBef>
                <a:spcPct val="0"/>
              </a:spcBef>
            </a:pPr>
            <a:r>
              <a:rPr lang="en-US" sz="265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Kassimi Zayd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28700" y="8218872"/>
            <a:ext cx="4457945" cy="47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6"/>
              </a:lnSpc>
              <a:spcBef>
                <a:spcPct val="0"/>
              </a:spcBef>
            </a:pPr>
            <a:r>
              <a:rPr lang="en-US" sz="265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Encadré par Pr. Bousnah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0727">
                <a:alpha val="100000"/>
              </a:srgbClr>
            </a:gs>
            <a:gs pos="100000">
              <a:srgbClr val="0C082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153377" y="7727913"/>
            <a:ext cx="290192" cy="1530387"/>
            <a:chOff x="0" y="0"/>
            <a:chExt cx="294878" cy="15551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4878" cy="1555103"/>
            </a:xfrm>
            <a:custGeom>
              <a:avLst/>
              <a:gdLst/>
              <a:ahLst/>
              <a:cxnLst/>
              <a:rect r="r" b="b" t="t" l="l"/>
              <a:pathLst>
                <a:path h="1555103" w="294878">
                  <a:moveTo>
                    <a:pt x="147439" y="0"/>
                  </a:moveTo>
                  <a:lnTo>
                    <a:pt x="147439" y="0"/>
                  </a:lnTo>
                  <a:cubicBezTo>
                    <a:pt x="228868" y="0"/>
                    <a:pt x="294878" y="66011"/>
                    <a:pt x="294878" y="147439"/>
                  </a:cubicBezTo>
                  <a:lnTo>
                    <a:pt x="294878" y="1407663"/>
                  </a:lnTo>
                  <a:cubicBezTo>
                    <a:pt x="294878" y="1446767"/>
                    <a:pt x="279345" y="1484268"/>
                    <a:pt x="251694" y="1511919"/>
                  </a:cubicBezTo>
                  <a:cubicBezTo>
                    <a:pt x="224044" y="1539569"/>
                    <a:pt x="186542" y="1555103"/>
                    <a:pt x="147439" y="1555103"/>
                  </a:cubicBezTo>
                  <a:lnTo>
                    <a:pt x="147439" y="1555103"/>
                  </a:lnTo>
                  <a:cubicBezTo>
                    <a:pt x="108336" y="1555103"/>
                    <a:pt x="70834" y="1539569"/>
                    <a:pt x="43184" y="1511919"/>
                  </a:cubicBezTo>
                  <a:cubicBezTo>
                    <a:pt x="15534" y="1484268"/>
                    <a:pt x="0" y="1446767"/>
                    <a:pt x="0" y="1407663"/>
                  </a:cubicBezTo>
                  <a:lnTo>
                    <a:pt x="0" y="147439"/>
                  </a:lnTo>
                  <a:cubicBezTo>
                    <a:pt x="0" y="108336"/>
                    <a:pt x="15534" y="70834"/>
                    <a:pt x="43184" y="43184"/>
                  </a:cubicBezTo>
                  <a:cubicBezTo>
                    <a:pt x="70834" y="15534"/>
                    <a:pt x="108336" y="0"/>
                    <a:pt x="1474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94878" cy="1593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3009443" y="1759349"/>
            <a:ext cx="3420629" cy="6768303"/>
            <a:chOff x="0" y="0"/>
            <a:chExt cx="2620010" cy="5184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22189" t="0" r="-22189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772957" y="2477049"/>
            <a:ext cx="1042538" cy="47625"/>
            <a:chOff x="0" y="0"/>
            <a:chExt cx="274578" cy="1254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772957" y="1424423"/>
            <a:ext cx="8423420" cy="731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6"/>
              </a:lnSpc>
            </a:pPr>
            <a:r>
              <a:rPr lang="en-US" sz="456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Plan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772957" y="3270804"/>
            <a:ext cx="677751" cy="677751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720245" y="3446802"/>
            <a:ext cx="3550967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Introduction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863777" y="3446802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772957" y="7746468"/>
            <a:ext cx="677751" cy="677751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863777" y="7922466"/>
            <a:ext cx="496110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772957" y="4808641"/>
            <a:ext cx="677751" cy="677751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863777" y="4984639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7363398" y="3270804"/>
            <a:ext cx="677751" cy="677751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7454218" y="3446802"/>
            <a:ext cx="496110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772957" y="6349191"/>
            <a:ext cx="677751" cy="677751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4" id="4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863777" y="6525189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7363398" y="4811354"/>
            <a:ext cx="677751" cy="677751"/>
            <a:chOff x="0" y="0"/>
            <a:chExt cx="812800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8" id="4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7454218" y="4987351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720245" y="4984639"/>
            <a:ext cx="3550967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Problématique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720245" y="6520102"/>
            <a:ext cx="3550967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Diagramme de Cas d'Utilisation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720245" y="7922466"/>
            <a:ext cx="3550967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Diagramme de Classes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310685" y="3501578"/>
            <a:ext cx="3550967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Diagramme de Séquence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310685" y="4987351"/>
            <a:ext cx="3550967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Stack Technique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7363398" y="6355879"/>
            <a:ext cx="677751" cy="677751"/>
            <a:chOff x="0" y="0"/>
            <a:chExt cx="812800" cy="812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7" id="5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7454218" y="6531877"/>
            <a:ext cx="496110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07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8310685" y="6531877"/>
            <a:ext cx="3550967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Résultats &amp; Objectifs Atteints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7363398" y="7746485"/>
            <a:ext cx="677751" cy="677751"/>
            <a:chOff x="0" y="0"/>
            <a:chExt cx="812800" cy="812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62" id="6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7454218" y="7922483"/>
            <a:ext cx="496110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08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8310685" y="7922483"/>
            <a:ext cx="3550967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Conclusion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0727">
                <a:alpha val="100000"/>
              </a:srgbClr>
            </a:gs>
            <a:gs pos="100000">
              <a:srgbClr val="0C082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4294540" cy="10287000"/>
            <a:chOff x="0" y="0"/>
            <a:chExt cx="1131072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31072" cy="2709333"/>
            </a:xfrm>
            <a:custGeom>
              <a:avLst/>
              <a:gdLst/>
              <a:ahLst/>
              <a:cxnLst/>
              <a:rect r="r" b="b" t="t" l="l"/>
              <a:pathLst>
                <a:path h="2709333" w="1131072">
                  <a:moveTo>
                    <a:pt x="0" y="0"/>
                  </a:moveTo>
                  <a:lnTo>
                    <a:pt x="1131072" y="0"/>
                  </a:lnTo>
                  <a:lnTo>
                    <a:pt x="113107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31072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153377" y="7727913"/>
            <a:ext cx="290192" cy="1530387"/>
            <a:chOff x="0" y="0"/>
            <a:chExt cx="294878" cy="15551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4878" cy="1555103"/>
            </a:xfrm>
            <a:custGeom>
              <a:avLst/>
              <a:gdLst/>
              <a:ahLst/>
              <a:cxnLst/>
              <a:rect r="r" b="b" t="t" l="l"/>
              <a:pathLst>
                <a:path h="1555103" w="294878">
                  <a:moveTo>
                    <a:pt x="147439" y="0"/>
                  </a:moveTo>
                  <a:lnTo>
                    <a:pt x="147439" y="0"/>
                  </a:lnTo>
                  <a:cubicBezTo>
                    <a:pt x="228868" y="0"/>
                    <a:pt x="294878" y="66011"/>
                    <a:pt x="294878" y="147439"/>
                  </a:cubicBezTo>
                  <a:lnTo>
                    <a:pt x="294878" y="1407663"/>
                  </a:lnTo>
                  <a:cubicBezTo>
                    <a:pt x="294878" y="1446767"/>
                    <a:pt x="279345" y="1484268"/>
                    <a:pt x="251694" y="1511919"/>
                  </a:cubicBezTo>
                  <a:cubicBezTo>
                    <a:pt x="224044" y="1539569"/>
                    <a:pt x="186542" y="1555103"/>
                    <a:pt x="147439" y="1555103"/>
                  </a:cubicBezTo>
                  <a:lnTo>
                    <a:pt x="147439" y="1555103"/>
                  </a:lnTo>
                  <a:cubicBezTo>
                    <a:pt x="108336" y="1555103"/>
                    <a:pt x="70834" y="1539569"/>
                    <a:pt x="43184" y="1511919"/>
                  </a:cubicBezTo>
                  <a:cubicBezTo>
                    <a:pt x="15534" y="1484268"/>
                    <a:pt x="0" y="1446767"/>
                    <a:pt x="0" y="1407663"/>
                  </a:cubicBezTo>
                  <a:lnTo>
                    <a:pt x="0" y="147439"/>
                  </a:lnTo>
                  <a:cubicBezTo>
                    <a:pt x="0" y="108336"/>
                    <a:pt x="15534" y="70834"/>
                    <a:pt x="43184" y="43184"/>
                  </a:cubicBezTo>
                  <a:cubicBezTo>
                    <a:pt x="70834" y="15534"/>
                    <a:pt x="108336" y="0"/>
                    <a:pt x="1474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94878" cy="1593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828563" y="1728401"/>
            <a:ext cx="5035897" cy="9964388"/>
            <a:chOff x="0" y="0"/>
            <a:chExt cx="2620010" cy="51841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22189" t="0" r="-22189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8447880" y="3478754"/>
            <a:ext cx="1503301" cy="44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24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Contexte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447880" y="4195101"/>
            <a:ext cx="1213500" cy="55435"/>
            <a:chOff x="0" y="0"/>
            <a:chExt cx="274578" cy="1254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8447880" y="2277626"/>
            <a:ext cx="5800054" cy="845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1"/>
              </a:lnSpc>
            </a:pPr>
            <a:r>
              <a:rPr lang="en-US" sz="530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310835" y="4573336"/>
            <a:ext cx="7550457" cy="1276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2089" indent="-201044" lvl="1">
              <a:lnSpc>
                <a:spcPts val="2607"/>
              </a:lnSpc>
              <a:buFont typeface="Arial"/>
              <a:buChar char="•"/>
            </a:pPr>
            <a:r>
              <a:rPr lang="en-US" b="true" sz="186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Projet réalisé dans le cadre du module Développement Mobile à l'EMSI</a:t>
            </a:r>
          </a:p>
          <a:p>
            <a:pPr algn="l" marL="402089" indent="-201044" lvl="1">
              <a:lnSpc>
                <a:spcPts val="260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6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Application Android complète pour les supporters du Real Madrid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584925" y="6206105"/>
            <a:ext cx="4817167" cy="44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24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Objectifs pédagogiques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8584925" y="6922451"/>
            <a:ext cx="1213500" cy="55435"/>
            <a:chOff x="0" y="0"/>
            <a:chExt cx="274578" cy="1254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8447880" y="7300687"/>
            <a:ext cx="7550457" cy="1598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2089" indent="-201044" lvl="1">
              <a:lnSpc>
                <a:spcPts val="2607"/>
              </a:lnSpc>
              <a:buFont typeface="Arial"/>
              <a:buChar char="•"/>
            </a:pPr>
            <a:r>
              <a:rPr lang="en-US" b="true" sz="186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Maîtriser Kotlin et Jetpack Compose</a:t>
            </a:r>
          </a:p>
          <a:p>
            <a:pPr algn="l" marL="402089" indent="-201044" lvl="1">
              <a:lnSpc>
                <a:spcPts val="2607"/>
              </a:lnSpc>
              <a:buFont typeface="Arial"/>
              <a:buChar char="•"/>
            </a:pPr>
            <a:r>
              <a:rPr lang="en-US" b="true" sz="186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Appliquer l'architecture MVVM</a:t>
            </a:r>
          </a:p>
          <a:p>
            <a:pPr algn="l" marL="402089" indent="-201044" lvl="1">
              <a:lnSpc>
                <a:spcPts val="2607"/>
              </a:lnSpc>
              <a:buFont typeface="Arial"/>
              <a:buChar char="•"/>
            </a:pPr>
            <a:r>
              <a:rPr lang="en-US" b="true" sz="186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Intégrer un backend personnalisé + Firebase</a:t>
            </a:r>
          </a:p>
          <a:p>
            <a:pPr algn="l" marL="402089" indent="-201044" lvl="1">
              <a:lnSpc>
                <a:spcPts val="2607"/>
              </a:lnSpc>
              <a:buFont typeface="Arial"/>
              <a:buChar char="•"/>
            </a:pPr>
            <a:r>
              <a:rPr lang="en-US" b="true" sz="186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Intégrer l'intelligence artificielle locale</a:t>
            </a:r>
          </a:p>
          <a:p>
            <a:pPr algn="l">
              <a:lnSpc>
                <a:spcPts val="260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0727">
                <a:alpha val="100000"/>
              </a:srgbClr>
            </a:gs>
            <a:gs pos="100000">
              <a:srgbClr val="0C082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153377" y="7727913"/>
            <a:ext cx="290192" cy="1530387"/>
            <a:chOff x="0" y="0"/>
            <a:chExt cx="294878" cy="15551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4878" cy="1555103"/>
            </a:xfrm>
            <a:custGeom>
              <a:avLst/>
              <a:gdLst/>
              <a:ahLst/>
              <a:cxnLst/>
              <a:rect r="r" b="b" t="t" l="l"/>
              <a:pathLst>
                <a:path h="1555103" w="294878">
                  <a:moveTo>
                    <a:pt x="147439" y="0"/>
                  </a:moveTo>
                  <a:lnTo>
                    <a:pt x="147439" y="0"/>
                  </a:lnTo>
                  <a:cubicBezTo>
                    <a:pt x="228868" y="0"/>
                    <a:pt x="294878" y="66011"/>
                    <a:pt x="294878" y="147439"/>
                  </a:cubicBezTo>
                  <a:lnTo>
                    <a:pt x="294878" y="1407663"/>
                  </a:lnTo>
                  <a:cubicBezTo>
                    <a:pt x="294878" y="1446767"/>
                    <a:pt x="279345" y="1484268"/>
                    <a:pt x="251694" y="1511919"/>
                  </a:cubicBezTo>
                  <a:cubicBezTo>
                    <a:pt x="224044" y="1539569"/>
                    <a:pt x="186542" y="1555103"/>
                    <a:pt x="147439" y="1555103"/>
                  </a:cubicBezTo>
                  <a:lnTo>
                    <a:pt x="147439" y="1555103"/>
                  </a:lnTo>
                  <a:cubicBezTo>
                    <a:pt x="108336" y="1555103"/>
                    <a:pt x="70834" y="1539569"/>
                    <a:pt x="43184" y="1511919"/>
                  </a:cubicBezTo>
                  <a:cubicBezTo>
                    <a:pt x="15534" y="1484268"/>
                    <a:pt x="0" y="1446767"/>
                    <a:pt x="0" y="1407663"/>
                  </a:cubicBezTo>
                  <a:lnTo>
                    <a:pt x="0" y="147439"/>
                  </a:lnTo>
                  <a:cubicBezTo>
                    <a:pt x="0" y="108336"/>
                    <a:pt x="15534" y="70834"/>
                    <a:pt x="43184" y="43184"/>
                  </a:cubicBezTo>
                  <a:cubicBezTo>
                    <a:pt x="70834" y="15534"/>
                    <a:pt x="108336" y="0"/>
                    <a:pt x="1474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94878" cy="1593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413765" y="5893282"/>
            <a:ext cx="6651590" cy="1378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197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Question centrale</a:t>
            </a:r>
          </a:p>
          <a:p>
            <a:pPr algn="l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Comment offrir une expérience d'achat interactive, intelligente et personnalisée aux supporters du Real Madrid ?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0" y="0"/>
            <a:ext cx="7922056" cy="5143500"/>
            <a:chOff x="0" y="0"/>
            <a:chExt cx="2086467" cy="13546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86467" cy="1354667"/>
            </a:xfrm>
            <a:custGeom>
              <a:avLst/>
              <a:gdLst/>
              <a:ahLst/>
              <a:cxnLst/>
              <a:rect r="r" b="b" t="t" l="l"/>
              <a:pathLst>
                <a:path h="1354667" w="2086467">
                  <a:moveTo>
                    <a:pt x="0" y="0"/>
                  </a:moveTo>
                  <a:lnTo>
                    <a:pt x="2086467" y="0"/>
                  </a:lnTo>
                  <a:lnTo>
                    <a:pt x="2086467" y="1354667"/>
                  </a:lnTo>
                  <a:lnTo>
                    <a:pt x="0" y="1354667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86467" cy="1392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-1218182" y="1752839"/>
            <a:ext cx="3427209" cy="6781322"/>
            <a:chOff x="0" y="0"/>
            <a:chExt cx="2620010" cy="51841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22189" t="0" r="-22189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5" id="25"/>
          <p:cNvGrpSpPr>
            <a:grpSpLocks noChangeAspect="true"/>
          </p:cNvGrpSpPr>
          <p:nvPr/>
        </p:nvGrpSpPr>
        <p:grpSpPr>
          <a:xfrm rot="0">
            <a:off x="2495135" y="1752839"/>
            <a:ext cx="3427209" cy="6781322"/>
            <a:chOff x="0" y="0"/>
            <a:chExt cx="2620010" cy="51841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22189" t="0" r="-22189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5" id="35"/>
          <p:cNvGrpSpPr>
            <a:grpSpLocks noChangeAspect="true"/>
          </p:cNvGrpSpPr>
          <p:nvPr/>
        </p:nvGrpSpPr>
        <p:grpSpPr>
          <a:xfrm rot="0">
            <a:off x="6208451" y="2895839"/>
            <a:ext cx="3427209" cy="6781322"/>
            <a:chOff x="0" y="0"/>
            <a:chExt cx="2620010" cy="51841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22189" t="0" r="-22189" b="0"/>
              </a:stretch>
            </a:blip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45" id="45"/>
          <p:cNvSpPr/>
          <p:nvPr/>
        </p:nvSpPr>
        <p:spPr>
          <a:xfrm flipH="false" flipV="false" rot="0">
            <a:off x="535713" y="414823"/>
            <a:ext cx="342616" cy="359616"/>
          </a:xfrm>
          <a:custGeom>
            <a:avLst/>
            <a:gdLst/>
            <a:ahLst/>
            <a:cxnLst/>
            <a:rect r="r" b="b" t="t" l="l"/>
            <a:pathLst>
              <a:path h="359616" w="342616">
                <a:moveTo>
                  <a:pt x="0" y="0"/>
                </a:moveTo>
                <a:lnTo>
                  <a:pt x="342616" y="0"/>
                </a:lnTo>
                <a:lnTo>
                  <a:pt x="342616" y="359616"/>
                </a:lnTo>
                <a:lnTo>
                  <a:pt x="0" y="3596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1011679" y="508149"/>
            <a:ext cx="1633768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Ingoude Company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0413765" y="2236290"/>
            <a:ext cx="1042538" cy="47625"/>
            <a:chOff x="0" y="0"/>
            <a:chExt cx="274578" cy="1254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0413765" y="1183663"/>
            <a:ext cx="5947203" cy="731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6"/>
              </a:lnSpc>
            </a:pPr>
            <a:r>
              <a:rPr lang="en-US" sz="456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Problématique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413765" y="2533650"/>
            <a:ext cx="6951961" cy="3092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97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Les solutions existantes pour les supporters manquent d'interactivité et n'intègrent pas les technologies modernes.</a:t>
            </a:r>
          </a:p>
          <a:p>
            <a:pPr algn="l">
              <a:lnSpc>
                <a:spcPts val="2766"/>
              </a:lnSpc>
            </a:pPr>
            <a:r>
              <a:rPr lang="en-US" sz="197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Problèmes identifiés</a:t>
            </a:r>
          </a:p>
          <a:p>
            <a:pPr algn="l" marL="426618" indent="-213309" lvl="1">
              <a:lnSpc>
                <a:spcPts val="2766"/>
              </a:lnSpc>
              <a:buFont typeface="Arial"/>
              <a:buChar char="•"/>
            </a:pPr>
            <a:r>
              <a:rPr lang="en-US" sz="197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❌ Expérience d'achat peu personnalisée</a:t>
            </a:r>
          </a:p>
          <a:p>
            <a:pPr algn="l" marL="426618" indent="-213309" lvl="1">
              <a:lnSpc>
                <a:spcPts val="2766"/>
              </a:lnSpc>
              <a:buFont typeface="Arial"/>
              <a:buChar char="•"/>
            </a:pPr>
            <a:r>
              <a:rPr lang="en-US" sz="197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❌ Pas d'assistant intelligent disponible</a:t>
            </a:r>
          </a:p>
          <a:p>
            <a:pPr algn="l" marL="426618" indent="-213309" lvl="1">
              <a:lnSpc>
                <a:spcPts val="2766"/>
              </a:lnSpc>
              <a:buFont typeface="Arial"/>
              <a:buChar char="•"/>
            </a:pPr>
            <a:r>
              <a:rPr lang="en-US" sz="197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❌ Localisation des boutiques difficile</a:t>
            </a:r>
          </a:p>
          <a:p>
            <a:pPr algn="l" marL="426618" indent="-213309" lvl="1">
              <a:lnSpc>
                <a:spcPts val="2766"/>
              </a:lnSpc>
              <a:buFont typeface="Arial"/>
              <a:buChar char="•"/>
            </a:pPr>
            <a:r>
              <a:rPr lang="en-US" sz="197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❌ Interface souvent peu ergonomique</a:t>
            </a:r>
          </a:p>
          <a:p>
            <a:pPr algn="l">
              <a:lnSpc>
                <a:spcPts val="2766"/>
              </a:lnSpc>
              <a:spcBef>
                <a:spcPct val="0"/>
              </a:spcBef>
            </a:pPr>
          </a:p>
        </p:txBody>
      </p:sp>
      <p:grpSp>
        <p:nvGrpSpPr>
          <p:cNvPr name="Group 52" id="52"/>
          <p:cNvGrpSpPr/>
          <p:nvPr/>
        </p:nvGrpSpPr>
        <p:grpSpPr>
          <a:xfrm rot="0">
            <a:off x="10413765" y="5578957"/>
            <a:ext cx="1042538" cy="47625"/>
            <a:chOff x="0" y="0"/>
            <a:chExt cx="274578" cy="1254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0727">
                <a:alpha val="100000"/>
              </a:srgbClr>
            </a:gs>
            <a:gs pos="100000">
              <a:srgbClr val="0C082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35713" y="414823"/>
            <a:ext cx="342616" cy="359616"/>
          </a:xfrm>
          <a:custGeom>
            <a:avLst/>
            <a:gdLst/>
            <a:ahLst/>
            <a:cxnLst/>
            <a:rect r="r" b="b" t="t" l="l"/>
            <a:pathLst>
              <a:path h="359616" w="342616">
                <a:moveTo>
                  <a:pt x="0" y="0"/>
                </a:moveTo>
                <a:lnTo>
                  <a:pt x="342616" y="0"/>
                </a:lnTo>
                <a:lnTo>
                  <a:pt x="342616" y="359616"/>
                </a:lnTo>
                <a:lnTo>
                  <a:pt x="0" y="359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8153377" y="7727913"/>
            <a:ext cx="290192" cy="1530387"/>
            <a:chOff x="0" y="0"/>
            <a:chExt cx="294878" cy="15551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4878" cy="1555103"/>
            </a:xfrm>
            <a:custGeom>
              <a:avLst/>
              <a:gdLst/>
              <a:ahLst/>
              <a:cxnLst/>
              <a:rect r="r" b="b" t="t" l="l"/>
              <a:pathLst>
                <a:path h="1555103" w="294878">
                  <a:moveTo>
                    <a:pt x="147439" y="0"/>
                  </a:moveTo>
                  <a:lnTo>
                    <a:pt x="147439" y="0"/>
                  </a:lnTo>
                  <a:cubicBezTo>
                    <a:pt x="228868" y="0"/>
                    <a:pt x="294878" y="66011"/>
                    <a:pt x="294878" y="147439"/>
                  </a:cubicBezTo>
                  <a:lnTo>
                    <a:pt x="294878" y="1407663"/>
                  </a:lnTo>
                  <a:cubicBezTo>
                    <a:pt x="294878" y="1446767"/>
                    <a:pt x="279345" y="1484268"/>
                    <a:pt x="251694" y="1511919"/>
                  </a:cubicBezTo>
                  <a:cubicBezTo>
                    <a:pt x="224044" y="1539569"/>
                    <a:pt x="186542" y="1555103"/>
                    <a:pt x="147439" y="1555103"/>
                  </a:cubicBezTo>
                  <a:lnTo>
                    <a:pt x="147439" y="1555103"/>
                  </a:lnTo>
                  <a:cubicBezTo>
                    <a:pt x="108336" y="1555103"/>
                    <a:pt x="70834" y="1539569"/>
                    <a:pt x="43184" y="1511919"/>
                  </a:cubicBezTo>
                  <a:cubicBezTo>
                    <a:pt x="15534" y="1484268"/>
                    <a:pt x="0" y="1446767"/>
                    <a:pt x="0" y="1407663"/>
                  </a:cubicBezTo>
                  <a:lnTo>
                    <a:pt x="0" y="147439"/>
                  </a:lnTo>
                  <a:cubicBezTo>
                    <a:pt x="0" y="108336"/>
                    <a:pt x="15534" y="70834"/>
                    <a:pt x="43184" y="43184"/>
                  </a:cubicBezTo>
                  <a:cubicBezTo>
                    <a:pt x="70834" y="15534"/>
                    <a:pt x="108336" y="0"/>
                    <a:pt x="1474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94878" cy="1593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4840604" y="3094698"/>
            <a:ext cx="3457869" cy="6841988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22189" t="0" r="-22189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12334411" y="4015431"/>
            <a:ext cx="3457869" cy="6841988"/>
            <a:chOff x="0" y="0"/>
            <a:chExt cx="2620010" cy="51841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22189" t="0" r="-22189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870087" y="2902123"/>
            <a:ext cx="1042538" cy="47625"/>
            <a:chOff x="0" y="0"/>
            <a:chExt cx="274578" cy="1254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707021" y="1131363"/>
            <a:ext cx="7547460" cy="8516175"/>
          </a:xfrm>
          <a:custGeom>
            <a:avLst/>
            <a:gdLst/>
            <a:ahLst/>
            <a:cxnLst/>
            <a:rect r="r" b="b" t="t" l="l"/>
            <a:pathLst>
              <a:path h="8516175" w="7547460">
                <a:moveTo>
                  <a:pt x="0" y="0"/>
                </a:moveTo>
                <a:lnTo>
                  <a:pt x="7547460" y="0"/>
                </a:lnTo>
                <a:lnTo>
                  <a:pt x="7547460" y="8516175"/>
                </a:lnTo>
                <a:lnTo>
                  <a:pt x="0" y="85161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8796746" y="1382411"/>
            <a:ext cx="7330322" cy="1408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6"/>
              </a:lnSpc>
            </a:pPr>
            <a:r>
              <a:rPr lang="en-US" b="true" sz="456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Diagramme de Cas d'Utilisation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0727">
                <a:alpha val="100000"/>
              </a:srgbClr>
            </a:gs>
            <a:gs pos="100000">
              <a:srgbClr val="0C082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35713" y="414823"/>
            <a:ext cx="342616" cy="359616"/>
          </a:xfrm>
          <a:custGeom>
            <a:avLst/>
            <a:gdLst/>
            <a:ahLst/>
            <a:cxnLst/>
            <a:rect r="r" b="b" t="t" l="l"/>
            <a:pathLst>
              <a:path h="359616" w="342616">
                <a:moveTo>
                  <a:pt x="0" y="0"/>
                </a:moveTo>
                <a:lnTo>
                  <a:pt x="342616" y="0"/>
                </a:lnTo>
                <a:lnTo>
                  <a:pt x="342616" y="359616"/>
                </a:lnTo>
                <a:lnTo>
                  <a:pt x="0" y="359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8153377" y="7727913"/>
            <a:ext cx="290192" cy="1530387"/>
            <a:chOff x="0" y="0"/>
            <a:chExt cx="294878" cy="15551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4878" cy="1555103"/>
            </a:xfrm>
            <a:custGeom>
              <a:avLst/>
              <a:gdLst/>
              <a:ahLst/>
              <a:cxnLst/>
              <a:rect r="r" b="b" t="t" l="l"/>
              <a:pathLst>
                <a:path h="1555103" w="294878">
                  <a:moveTo>
                    <a:pt x="147439" y="0"/>
                  </a:moveTo>
                  <a:lnTo>
                    <a:pt x="147439" y="0"/>
                  </a:lnTo>
                  <a:cubicBezTo>
                    <a:pt x="228868" y="0"/>
                    <a:pt x="294878" y="66011"/>
                    <a:pt x="294878" y="147439"/>
                  </a:cubicBezTo>
                  <a:lnTo>
                    <a:pt x="294878" y="1407663"/>
                  </a:lnTo>
                  <a:cubicBezTo>
                    <a:pt x="294878" y="1446767"/>
                    <a:pt x="279345" y="1484268"/>
                    <a:pt x="251694" y="1511919"/>
                  </a:cubicBezTo>
                  <a:cubicBezTo>
                    <a:pt x="224044" y="1539569"/>
                    <a:pt x="186542" y="1555103"/>
                    <a:pt x="147439" y="1555103"/>
                  </a:cubicBezTo>
                  <a:lnTo>
                    <a:pt x="147439" y="1555103"/>
                  </a:lnTo>
                  <a:cubicBezTo>
                    <a:pt x="108336" y="1555103"/>
                    <a:pt x="70834" y="1539569"/>
                    <a:pt x="43184" y="1511919"/>
                  </a:cubicBezTo>
                  <a:cubicBezTo>
                    <a:pt x="15534" y="1484268"/>
                    <a:pt x="0" y="1446767"/>
                    <a:pt x="0" y="1407663"/>
                  </a:cubicBezTo>
                  <a:lnTo>
                    <a:pt x="0" y="147439"/>
                  </a:lnTo>
                  <a:cubicBezTo>
                    <a:pt x="0" y="108336"/>
                    <a:pt x="15534" y="70834"/>
                    <a:pt x="43184" y="43184"/>
                  </a:cubicBezTo>
                  <a:cubicBezTo>
                    <a:pt x="70834" y="15534"/>
                    <a:pt x="108336" y="0"/>
                    <a:pt x="1474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94878" cy="1593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647788" y="1651929"/>
            <a:ext cx="4816747" cy="9530762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22189" t="0" r="-22189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4056161" y="2686134"/>
            <a:ext cx="3321504" cy="6572166"/>
            <a:chOff x="0" y="0"/>
            <a:chExt cx="2620010" cy="51841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22189" t="0" r="-22189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419028" y="1521465"/>
            <a:ext cx="1042538" cy="47625"/>
            <a:chOff x="0" y="0"/>
            <a:chExt cx="274578" cy="1254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10952726" y="1721648"/>
            <a:ext cx="6306574" cy="7967869"/>
          </a:xfrm>
          <a:custGeom>
            <a:avLst/>
            <a:gdLst/>
            <a:ahLst/>
            <a:cxnLst/>
            <a:rect r="r" b="b" t="t" l="l"/>
            <a:pathLst>
              <a:path h="7967869" w="6306574">
                <a:moveTo>
                  <a:pt x="0" y="0"/>
                </a:moveTo>
                <a:lnTo>
                  <a:pt x="6306574" y="0"/>
                </a:lnTo>
                <a:lnTo>
                  <a:pt x="6306574" y="7967869"/>
                </a:lnTo>
                <a:lnTo>
                  <a:pt x="0" y="79678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6698216" y="527534"/>
            <a:ext cx="8049087" cy="731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6"/>
              </a:lnSpc>
            </a:pPr>
            <a:r>
              <a:rPr lang="en-US" sz="456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Diagramme de Classes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0727">
                <a:alpha val="100000"/>
              </a:srgbClr>
            </a:gs>
            <a:gs pos="100000">
              <a:srgbClr val="0C082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35623" y="343670"/>
            <a:ext cx="342616" cy="359616"/>
          </a:xfrm>
          <a:custGeom>
            <a:avLst/>
            <a:gdLst/>
            <a:ahLst/>
            <a:cxnLst/>
            <a:rect r="r" b="b" t="t" l="l"/>
            <a:pathLst>
              <a:path h="359616" w="342616">
                <a:moveTo>
                  <a:pt x="0" y="0"/>
                </a:moveTo>
                <a:lnTo>
                  <a:pt x="342616" y="0"/>
                </a:lnTo>
                <a:lnTo>
                  <a:pt x="342616" y="359616"/>
                </a:lnTo>
                <a:lnTo>
                  <a:pt x="0" y="359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8153377" y="7727913"/>
            <a:ext cx="290192" cy="1530387"/>
            <a:chOff x="0" y="0"/>
            <a:chExt cx="294878" cy="15551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4878" cy="1555103"/>
            </a:xfrm>
            <a:custGeom>
              <a:avLst/>
              <a:gdLst/>
              <a:ahLst/>
              <a:cxnLst/>
              <a:rect r="r" b="b" t="t" l="l"/>
              <a:pathLst>
                <a:path h="1555103" w="294878">
                  <a:moveTo>
                    <a:pt x="147439" y="0"/>
                  </a:moveTo>
                  <a:lnTo>
                    <a:pt x="147439" y="0"/>
                  </a:lnTo>
                  <a:cubicBezTo>
                    <a:pt x="228868" y="0"/>
                    <a:pt x="294878" y="66011"/>
                    <a:pt x="294878" y="147439"/>
                  </a:cubicBezTo>
                  <a:lnTo>
                    <a:pt x="294878" y="1407663"/>
                  </a:lnTo>
                  <a:cubicBezTo>
                    <a:pt x="294878" y="1446767"/>
                    <a:pt x="279345" y="1484268"/>
                    <a:pt x="251694" y="1511919"/>
                  </a:cubicBezTo>
                  <a:cubicBezTo>
                    <a:pt x="224044" y="1539569"/>
                    <a:pt x="186542" y="1555103"/>
                    <a:pt x="147439" y="1555103"/>
                  </a:cubicBezTo>
                  <a:lnTo>
                    <a:pt x="147439" y="1555103"/>
                  </a:lnTo>
                  <a:cubicBezTo>
                    <a:pt x="108336" y="1555103"/>
                    <a:pt x="70834" y="1539569"/>
                    <a:pt x="43184" y="1511919"/>
                  </a:cubicBezTo>
                  <a:cubicBezTo>
                    <a:pt x="15534" y="1484268"/>
                    <a:pt x="0" y="1446767"/>
                    <a:pt x="0" y="1407663"/>
                  </a:cubicBezTo>
                  <a:lnTo>
                    <a:pt x="0" y="147439"/>
                  </a:lnTo>
                  <a:cubicBezTo>
                    <a:pt x="0" y="108336"/>
                    <a:pt x="15534" y="70834"/>
                    <a:pt x="43184" y="43184"/>
                  </a:cubicBezTo>
                  <a:cubicBezTo>
                    <a:pt x="70834" y="15534"/>
                    <a:pt x="108336" y="0"/>
                    <a:pt x="1474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94878" cy="1593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3588469" y="2150203"/>
            <a:ext cx="3471104" cy="6868175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22189" t="0" r="-22189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028700" y="703286"/>
            <a:ext cx="9302316" cy="9244176"/>
          </a:xfrm>
          <a:custGeom>
            <a:avLst/>
            <a:gdLst/>
            <a:ahLst/>
            <a:cxnLst/>
            <a:rect r="r" b="b" t="t" l="l"/>
            <a:pathLst>
              <a:path h="9244176" w="9302316">
                <a:moveTo>
                  <a:pt x="0" y="0"/>
                </a:moveTo>
                <a:lnTo>
                  <a:pt x="9302316" y="0"/>
                </a:lnTo>
                <a:lnTo>
                  <a:pt x="9302316" y="9244177"/>
                </a:lnTo>
                <a:lnTo>
                  <a:pt x="0" y="9244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802503" y="305570"/>
            <a:ext cx="7350873" cy="1408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6"/>
              </a:lnSpc>
            </a:pPr>
            <a:r>
              <a:rPr lang="en-US" sz="456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Diagramme de Séquence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0727">
                <a:alpha val="100000"/>
              </a:srgbClr>
            </a:gs>
            <a:gs pos="100000">
              <a:srgbClr val="0C082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35713" y="414823"/>
            <a:ext cx="342616" cy="359616"/>
          </a:xfrm>
          <a:custGeom>
            <a:avLst/>
            <a:gdLst/>
            <a:ahLst/>
            <a:cxnLst/>
            <a:rect r="r" b="b" t="t" l="l"/>
            <a:pathLst>
              <a:path h="359616" w="342616">
                <a:moveTo>
                  <a:pt x="0" y="0"/>
                </a:moveTo>
                <a:lnTo>
                  <a:pt x="342616" y="0"/>
                </a:lnTo>
                <a:lnTo>
                  <a:pt x="342616" y="359616"/>
                </a:lnTo>
                <a:lnTo>
                  <a:pt x="0" y="359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8153377" y="7727913"/>
            <a:ext cx="290192" cy="1530387"/>
            <a:chOff x="0" y="0"/>
            <a:chExt cx="294878" cy="15551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4878" cy="1555103"/>
            </a:xfrm>
            <a:custGeom>
              <a:avLst/>
              <a:gdLst/>
              <a:ahLst/>
              <a:cxnLst/>
              <a:rect r="r" b="b" t="t" l="l"/>
              <a:pathLst>
                <a:path h="1555103" w="294878">
                  <a:moveTo>
                    <a:pt x="147439" y="0"/>
                  </a:moveTo>
                  <a:lnTo>
                    <a:pt x="147439" y="0"/>
                  </a:lnTo>
                  <a:cubicBezTo>
                    <a:pt x="228868" y="0"/>
                    <a:pt x="294878" y="66011"/>
                    <a:pt x="294878" y="147439"/>
                  </a:cubicBezTo>
                  <a:lnTo>
                    <a:pt x="294878" y="1407663"/>
                  </a:lnTo>
                  <a:cubicBezTo>
                    <a:pt x="294878" y="1446767"/>
                    <a:pt x="279345" y="1484268"/>
                    <a:pt x="251694" y="1511919"/>
                  </a:cubicBezTo>
                  <a:cubicBezTo>
                    <a:pt x="224044" y="1539569"/>
                    <a:pt x="186542" y="1555103"/>
                    <a:pt x="147439" y="1555103"/>
                  </a:cubicBezTo>
                  <a:lnTo>
                    <a:pt x="147439" y="1555103"/>
                  </a:lnTo>
                  <a:cubicBezTo>
                    <a:pt x="108336" y="1555103"/>
                    <a:pt x="70834" y="1539569"/>
                    <a:pt x="43184" y="1511919"/>
                  </a:cubicBezTo>
                  <a:cubicBezTo>
                    <a:pt x="15534" y="1484268"/>
                    <a:pt x="0" y="1446767"/>
                    <a:pt x="0" y="1407663"/>
                  </a:cubicBezTo>
                  <a:lnTo>
                    <a:pt x="0" y="147439"/>
                  </a:lnTo>
                  <a:cubicBezTo>
                    <a:pt x="0" y="108336"/>
                    <a:pt x="15534" y="70834"/>
                    <a:pt x="43184" y="43184"/>
                  </a:cubicBezTo>
                  <a:cubicBezTo>
                    <a:pt x="70834" y="15534"/>
                    <a:pt x="108336" y="0"/>
                    <a:pt x="1474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94878" cy="1593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565771" y="3561337"/>
            <a:ext cx="8928653" cy="5766659"/>
          </a:xfrm>
          <a:custGeom>
            <a:avLst/>
            <a:gdLst/>
            <a:ahLst/>
            <a:cxnLst/>
            <a:rect r="r" b="b" t="t" l="l"/>
            <a:pathLst>
              <a:path h="5766659" w="8928653">
                <a:moveTo>
                  <a:pt x="0" y="0"/>
                </a:moveTo>
                <a:lnTo>
                  <a:pt x="8928653" y="0"/>
                </a:lnTo>
                <a:lnTo>
                  <a:pt x="8928653" y="5766659"/>
                </a:lnTo>
                <a:lnTo>
                  <a:pt x="0" y="57666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468610" y="2855998"/>
            <a:ext cx="1042538" cy="47625"/>
            <a:chOff x="0" y="0"/>
            <a:chExt cx="274578" cy="125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770937" y="1676505"/>
            <a:ext cx="5157606" cy="731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6"/>
              </a:lnSpc>
            </a:pPr>
            <a:r>
              <a:rPr lang="en-US" sz="456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Stack Technique</a:t>
            </a:r>
          </a:p>
        </p:txBody>
      </p: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12235660" y="2580086"/>
            <a:ext cx="3512804" cy="6950686"/>
            <a:chOff x="0" y="0"/>
            <a:chExt cx="2620010" cy="51841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22189" t="0" r="-22189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14973112" y="3824085"/>
            <a:ext cx="2884100" cy="5706687"/>
            <a:chOff x="0" y="0"/>
            <a:chExt cx="2620010" cy="51841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22189" t="0" r="-22189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7" id="37"/>
          <p:cNvGrpSpPr>
            <a:grpSpLocks noChangeAspect="true"/>
          </p:cNvGrpSpPr>
          <p:nvPr/>
        </p:nvGrpSpPr>
        <p:grpSpPr>
          <a:xfrm rot="0">
            <a:off x="17228889" y="4648204"/>
            <a:ext cx="2467598" cy="4882567"/>
            <a:chOff x="0" y="0"/>
            <a:chExt cx="2620010" cy="51841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22189" t="0" r="-22189" b="0"/>
              </a:stretch>
            </a:blip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0727">
                <a:alpha val="100000"/>
              </a:srgbClr>
            </a:gs>
            <a:gs pos="100000">
              <a:srgbClr val="0C082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35713" y="414823"/>
            <a:ext cx="342616" cy="359616"/>
          </a:xfrm>
          <a:custGeom>
            <a:avLst/>
            <a:gdLst/>
            <a:ahLst/>
            <a:cxnLst/>
            <a:rect r="r" b="b" t="t" l="l"/>
            <a:pathLst>
              <a:path h="359616" w="342616">
                <a:moveTo>
                  <a:pt x="0" y="0"/>
                </a:moveTo>
                <a:lnTo>
                  <a:pt x="342616" y="0"/>
                </a:lnTo>
                <a:lnTo>
                  <a:pt x="342616" y="359616"/>
                </a:lnTo>
                <a:lnTo>
                  <a:pt x="0" y="359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8153377" y="7727913"/>
            <a:ext cx="290192" cy="1530387"/>
            <a:chOff x="0" y="0"/>
            <a:chExt cx="294878" cy="15551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4878" cy="1555103"/>
            </a:xfrm>
            <a:custGeom>
              <a:avLst/>
              <a:gdLst/>
              <a:ahLst/>
              <a:cxnLst/>
              <a:rect r="r" b="b" t="t" l="l"/>
              <a:pathLst>
                <a:path h="1555103" w="294878">
                  <a:moveTo>
                    <a:pt x="147439" y="0"/>
                  </a:moveTo>
                  <a:lnTo>
                    <a:pt x="147439" y="0"/>
                  </a:lnTo>
                  <a:cubicBezTo>
                    <a:pt x="228868" y="0"/>
                    <a:pt x="294878" y="66011"/>
                    <a:pt x="294878" y="147439"/>
                  </a:cubicBezTo>
                  <a:lnTo>
                    <a:pt x="294878" y="1407663"/>
                  </a:lnTo>
                  <a:cubicBezTo>
                    <a:pt x="294878" y="1446767"/>
                    <a:pt x="279345" y="1484268"/>
                    <a:pt x="251694" y="1511919"/>
                  </a:cubicBezTo>
                  <a:cubicBezTo>
                    <a:pt x="224044" y="1539569"/>
                    <a:pt x="186542" y="1555103"/>
                    <a:pt x="147439" y="1555103"/>
                  </a:cubicBezTo>
                  <a:lnTo>
                    <a:pt x="147439" y="1555103"/>
                  </a:lnTo>
                  <a:cubicBezTo>
                    <a:pt x="108336" y="1555103"/>
                    <a:pt x="70834" y="1539569"/>
                    <a:pt x="43184" y="1511919"/>
                  </a:cubicBezTo>
                  <a:cubicBezTo>
                    <a:pt x="15534" y="1484268"/>
                    <a:pt x="0" y="1446767"/>
                    <a:pt x="0" y="1407663"/>
                  </a:cubicBezTo>
                  <a:lnTo>
                    <a:pt x="0" y="147439"/>
                  </a:lnTo>
                  <a:cubicBezTo>
                    <a:pt x="0" y="108336"/>
                    <a:pt x="15534" y="70834"/>
                    <a:pt x="43184" y="43184"/>
                  </a:cubicBezTo>
                  <a:cubicBezTo>
                    <a:pt x="70834" y="15534"/>
                    <a:pt x="108336" y="0"/>
                    <a:pt x="1474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94878" cy="1593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-2583587">
            <a:off x="12482443" y="1763139"/>
            <a:ext cx="3197676" cy="6327152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22189" t="0" r="-22189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118478" y="3178751"/>
            <a:ext cx="1042538" cy="47625"/>
            <a:chOff x="0" y="0"/>
            <a:chExt cx="274578" cy="1254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878329" y="3736276"/>
            <a:ext cx="9331815" cy="5694800"/>
          </a:xfrm>
          <a:custGeom>
            <a:avLst/>
            <a:gdLst/>
            <a:ahLst/>
            <a:cxnLst/>
            <a:rect r="r" b="b" t="t" l="l"/>
            <a:pathLst>
              <a:path h="5694800" w="9331815">
                <a:moveTo>
                  <a:pt x="0" y="0"/>
                </a:moveTo>
                <a:lnTo>
                  <a:pt x="9331815" y="0"/>
                </a:lnTo>
                <a:lnTo>
                  <a:pt x="9331815" y="5694800"/>
                </a:lnTo>
                <a:lnTo>
                  <a:pt x="0" y="569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117581" y="1336528"/>
            <a:ext cx="7837787" cy="208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6"/>
              </a:lnSpc>
            </a:pPr>
            <a:r>
              <a:rPr lang="en-US" sz="456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Résultats &amp; Objectifs Atteints</a:t>
            </a:r>
          </a:p>
          <a:p>
            <a:pPr algn="l">
              <a:lnSpc>
                <a:spcPts val="5336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0727">
                <a:alpha val="100000"/>
              </a:srgbClr>
            </a:gs>
            <a:gs pos="100000">
              <a:srgbClr val="0C082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35713" y="414823"/>
            <a:ext cx="342616" cy="359616"/>
          </a:xfrm>
          <a:custGeom>
            <a:avLst/>
            <a:gdLst/>
            <a:ahLst/>
            <a:cxnLst/>
            <a:rect r="r" b="b" t="t" l="l"/>
            <a:pathLst>
              <a:path h="359616" w="342616">
                <a:moveTo>
                  <a:pt x="0" y="0"/>
                </a:moveTo>
                <a:lnTo>
                  <a:pt x="342616" y="0"/>
                </a:lnTo>
                <a:lnTo>
                  <a:pt x="342616" y="359616"/>
                </a:lnTo>
                <a:lnTo>
                  <a:pt x="0" y="359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8153377" y="7727913"/>
            <a:ext cx="290192" cy="1530387"/>
            <a:chOff x="0" y="0"/>
            <a:chExt cx="294878" cy="15551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4878" cy="1555103"/>
            </a:xfrm>
            <a:custGeom>
              <a:avLst/>
              <a:gdLst/>
              <a:ahLst/>
              <a:cxnLst/>
              <a:rect r="r" b="b" t="t" l="l"/>
              <a:pathLst>
                <a:path h="1555103" w="294878">
                  <a:moveTo>
                    <a:pt x="147439" y="0"/>
                  </a:moveTo>
                  <a:lnTo>
                    <a:pt x="147439" y="0"/>
                  </a:lnTo>
                  <a:cubicBezTo>
                    <a:pt x="228868" y="0"/>
                    <a:pt x="294878" y="66011"/>
                    <a:pt x="294878" y="147439"/>
                  </a:cubicBezTo>
                  <a:lnTo>
                    <a:pt x="294878" y="1407663"/>
                  </a:lnTo>
                  <a:cubicBezTo>
                    <a:pt x="294878" y="1446767"/>
                    <a:pt x="279345" y="1484268"/>
                    <a:pt x="251694" y="1511919"/>
                  </a:cubicBezTo>
                  <a:cubicBezTo>
                    <a:pt x="224044" y="1539569"/>
                    <a:pt x="186542" y="1555103"/>
                    <a:pt x="147439" y="1555103"/>
                  </a:cubicBezTo>
                  <a:lnTo>
                    <a:pt x="147439" y="1555103"/>
                  </a:lnTo>
                  <a:cubicBezTo>
                    <a:pt x="108336" y="1555103"/>
                    <a:pt x="70834" y="1539569"/>
                    <a:pt x="43184" y="1511919"/>
                  </a:cubicBezTo>
                  <a:cubicBezTo>
                    <a:pt x="15534" y="1484268"/>
                    <a:pt x="0" y="1446767"/>
                    <a:pt x="0" y="1407663"/>
                  </a:cubicBezTo>
                  <a:lnTo>
                    <a:pt x="0" y="147439"/>
                  </a:lnTo>
                  <a:cubicBezTo>
                    <a:pt x="0" y="108336"/>
                    <a:pt x="15534" y="70834"/>
                    <a:pt x="43184" y="43184"/>
                  </a:cubicBezTo>
                  <a:cubicBezTo>
                    <a:pt x="70834" y="15534"/>
                    <a:pt x="108336" y="0"/>
                    <a:pt x="1474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94878" cy="1593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1881452" y="2912156"/>
            <a:ext cx="2884100" cy="5706687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22189" t="0" r="-22189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14137229" y="3736276"/>
            <a:ext cx="2467598" cy="4882567"/>
            <a:chOff x="0" y="0"/>
            <a:chExt cx="2620010" cy="51841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22189" t="0" r="-22189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118478" y="3178751"/>
            <a:ext cx="1042538" cy="47625"/>
            <a:chOff x="0" y="0"/>
            <a:chExt cx="274578" cy="1254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106459" y="1940356"/>
            <a:ext cx="7837787" cy="731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6"/>
              </a:lnSpc>
            </a:pPr>
            <a:r>
              <a:rPr lang="en-US" sz="456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8700" y="3602962"/>
            <a:ext cx="8576563" cy="3697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9"/>
              </a:lnSpc>
            </a:pPr>
            <a:r>
              <a:rPr lang="en-US" sz="2785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En conclusion, Real Madrid Store est une application Android fonctionnelle intégrant boutique interactive, chatbot IA (DeepSeek-R1), localisation GPS et backend Node.js + Firestore. Les objectifs pédagogiques sont atteints : maîtrise de Kotlin, Jetpack Compose, MVVM et Firebase. Les perspectives incluent l'authentification, les notifications push et la publication sur Google Play Store.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0727">
                <a:alpha val="100000"/>
              </a:srgbClr>
            </a:gs>
            <a:gs pos="100000">
              <a:srgbClr val="0C082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35713" y="414823"/>
            <a:ext cx="342616" cy="359616"/>
          </a:xfrm>
          <a:custGeom>
            <a:avLst/>
            <a:gdLst/>
            <a:ahLst/>
            <a:cxnLst/>
            <a:rect r="r" b="b" t="t" l="l"/>
            <a:pathLst>
              <a:path h="359616" w="342616">
                <a:moveTo>
                  <a:pt x="0" y="0"/>
                </a:moveTo>
                <a:lnTo>
                  <a:pt x="342616" y="0"/>
                </a:lnTo>
                <a:lnTo>
                  <a:pt x="342616" y="359616"/>
                </a:lnTo>
                <a:lnTo>
                  <a:pt x="0" y="359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8153377" y="7727913"/>
            <a:ext cx="290192" cy="1530387"/>
            <a:chOff x="0" y="0"/>
            <a:chExt cx="294878" cy="15551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4878" cy="1555103"/>
            </a:xfrm>
            <a:custGeom>
              <a:avLst/>
              <a:gdLst/>
              <a:ahLst/>
              <a:cxnLst/>
              <a:rect r="r" b="b" t="t" l="l"/>
              <a:pathLst>
                <a:path h="1555103" w="294878">
                  <a:moveTo>
                    <a:pt x="147439" y="0"/>
                  </a:moveTo>
                  <a:lnTo>
                    <a:pt x="147439" y="0"/>
                  </a:lnTo>
                  <a:cubicBezTo>
                    <a:pt x="228868" y="0"/>
                    <a:pt x="294878" y="66011"/>
                    <a:pt x="294878" y="147439"/>
                  </a:cubicBezTo>
                  <a:lnTo>
                    <a:pt x="294878" y="1407663"/>
                  </a:lnTo>
                  <a:cubicBezTo>
                    <a:pt x="294878" y="1446767"/>
                    <a:pt x="279345" y="1484268"/>
                    <a:pt x="251694" y="1511919"/>
                  </a:cubicBezTo>
                  <a:cubicBezTo>
                    <a:pt x="224044" y="1539569"/>
                    <a:pt x="186542" y="1555103"/>
                    <a:pt x="147439" y="1555103"/>
                  </a:cubicBezTo>
                  <a:lnTo>
                    <a:pt x="147439" y="1555103"/>
                  </a:lnTo>
                  <a:cubicBezTo>
                    <a:pt x="108336" y="1555103"/>
                    <a:pt x="70834" y="1539569"/>
                    <a:pt x="43184" y="1511919"/>
                  </a:cubicBezTo>
                  <a:cubicBezTo>
                    <a:pt x="15534" y="1484268"/>
                    <a:pt x="0" y="1446767"/>
                    <a:pt x="0" y="1407663"/>
                  </a:cubicBezTo>
                  <a:lnTo>
                    <a:pt x="0" y="147439"/>
                  </a:lnTo>
                  <a:cubicBezTo>
                    <a:pt x="0" y="108336"/>
                    <a:pt x="15534" y="70834"/>
                    <a:pt x="43184" y="43184"/>
                  </a:cubicBezTo>
                  <a:cubicBezTo>
                    <a:pt x="70834" y="15534"/>
                    <a:pt x="108336" y="0"/>
                    <a:pt x="1474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94878" cy="1593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-2462652">
            <a:off x="5075227" y="-1306951"/>
            <a:ext cx="3127859" cy="6189006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22189" t="0" r="-22189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-2462652">
            <a:off x="2299117" y="1081774"/>
            <a:ext cx="3127859" cy="6189006"/>
            <a:chOff x="0" y="0"/>
            <a:chExt cx="2620010" cy="51841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22189" t="0" r="-22189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2" id="32"/>
          <p:cNvGrpSpPr>
            <a:grpSpLocks noChangeAspect="true"/>
          </p:cNvGrpSpPr>
          <p:nvPr/>
        </p:nvGrpSpPr>
        <p:grpSpPr>
          <a:xfrm rot="-2462652">
            <a:off x="-258867" y="3490655"/>
            <a:ext cx="3127859" cy="6189006"/>
            <a:chOff x="0" y="0"/>
            <a:chExt cx="2620010" cy="51841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22189" t="0" r="-22189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42" id="42"/>
          <p:cNvGrpSpPr>
            <a:grpSpLocks noChangeAspect="true"/>
          </p:cNvGrpSpPr>
          <p:nvPr/>
        </p:nvGrpSpPr>
        <p:grpSpPr>
          <a:xfrm rot="-2462652">
            <a:off x="9609617" y="3764994"/>
            <a:ext cx="3127859" cy="6189006"/>
            <a:chOff x="0" y="0"/>
            <a:chExt cx="2620010" cy="51841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22189" t="0" r="-22189" b="0"/>
              </a:stretch>
            </a:blip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52" id="52"/>
          <p:cNvGrpSpPr>
            <a:grpSpLocks noChangeAspect="true"/>
          </p:cNvGrpSpPr>
          <p:nvPr/>
        </p:nvGrpSpPr>
        <p:grpSpPr>
          <a:xfrm rot="-2462652">
            <a:off x="6833507" y="6153719"/>
            <a:ext cx="3127859" cy="6189006"/>
            <a:chOff x="0" y="0"/>
            <a:chExt cx="2620010" cy="51841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22189" t="0" r="-22189" b="0"/>
              </a:stretch>
            </a:blip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62" id="62"/>
          <p:cNvGrpSpPr>
            <a:grpSpLocks noChangeAspect="true"/>
          </p:cNvGrpSpPr>
          <p:nvPr/>
        </p:nvGrpSpPr>
        <p:grpSpPr>
          <a:xfrm rot="-2462652">
            <a:off x="4275524" y="8562599"/>
            <a:ext cx="3127859" cy="6189006"/>
            <a:chOff x="0" y="0"/>
            <a:chExt cx="2620010" cy="51841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22189" t="0" r="-22189" b="0"/>
              </a:stretch>
            </a:blip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4870476" y="3438747"/>
            <a:ext cx="1311811" cy="59926"/>
            <a:chOff x="0" y="0"/>
            <a:chExt cx="274578" cy="12543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1301549" y="2124082"/>
            <a:ext cx="4880738" cy="910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714"/>
              </a:lnSpc>
            </a:pPr>
            <a:r>
              <a:rPr lang="en-US" b="true" sz="573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DAHKVV9SsKM</dc:identifier>
  <dcterms:modified xsi:type="dcterms:W3CDTF">2011-08-01T06:04:30Z</dcterms:modified>
  <cp:revision>1</cp:revision>
  <dc:title>Purple Pink Gradient Mobile Application Presentation</dc:title>
</cp:coreProperties>
</file>